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Congestion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EAF1F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2C55E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Before</c:v>
                  </c:pt>
                  <c:pt idx="1">
                    <c:v>After diversion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0.94</c:v>
                </c:pt>
                <c:pt idx="1">
                  <c:v>0.67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1" i="0" strike="noStrike" sz="1400" u="none">
                  <a:solidFill>
                    <a:srgbClr val="EAF1F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FA6C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27364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FA6C4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.xml"/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37192" y="1490472"/>
            <a:ext cx="1280160" cy="822960"/>
          </a:xfrm>
          <a:prstGeom prst="line">
            <a:avLst/>
          </a:prstGeom>
          <a:noFill/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37192" y="1490472"/>
            <a:ext cx="-274320" cy="1737360"/>
          </a:xfrm>
          <a:prstGeom prst="line">
            <a:avLst/>
          </a:prstGeom>
          <a:noFill/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17352" y="2313432"/>
            <a:ext cx="548640" cy="640080"/>
          </a:xfrm>
          <a:prstGeom prst="line">
            <a:avLst/>
          </a:prstGeom>
          <a:noFill/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262872" y="3227832"/>
            <a:ext cx="1280160" cy="731520"/>
          </a:xfrm>
          <a:prstGeom prst="line">
            <a:avLst/>
          </a:prstGeom>
          <a:noFill/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365992" y="2953512"/>
            <a:ext cx="-822960" cy="1005840"/>
          </a:xfrm>
          <a:prstGeom prst="line">
            <a:avLst/>
          </a:prstGeom>
          <a:noFill/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43032" y="3959352"/>
            <a:ext cx="-457200" cy="914400"/>
          </a:xfrm>
          <a:prstGeom prst="line">
            <a:avLst/>
          </a:prstGeom>
          <a:noFill/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817352" y="2313432"/>
            <a:ext cx="-1554480" cy="914400"/>
          </a:xfrm>
          <a:prstGeom prst="line">
            <a:avLst/>
          </a:prstGeom>
          <a:noFill/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418320" y="1371600"/>
            <a:ext cx="237744" cy="23774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0C1A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698480" y="2194560"/>
            <a:ext cx="237744" cy="237744"/>
          </a:xfrm>
          <a:prstGeom prst="ellipse">
            <a:avLst/>
          </a:prstGeom>
          <a:solidFill>
            <a:srgbClr val="38BDF8"/>
          </a:solidFill>
          <a:ln w="12700">
            <a:solidFill>
              <a:srgbClr val="0C1A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0" y="3108960"/>
            <a:ext cx="237744" cy="23774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0C1A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424160" y="3840480"/>
            <a:ext cx="237744" cy="23774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0C1A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247120" y="2834640"/>
            <a:ext cx="237744" cy="237744"/>
          </a:xfrm>
          <a:prstGeom prst="ellipse">
            <a:avLst/>
          </a:prstGeom>
          <a:solidFill>
            <a:srgbClr val="38BDF8"/>
          </a:solidFill>
          <a:ln w="12700">
            <a:solidFill>
              <a:srgbClr val="0C1A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966960" y="4754880"/>
            <a:ext cx="237744" cy="23774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0C1A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1371600"/>
            <a:ext cx="640080" cy="640080"/>
          </a:xfrm>
          <a:prstGeom prst="ellipse">
            <a:avLst/>
          </a:prstGeom>
          <a:solidFill>
            <a:srgbClr val="38BDF8"/>
          </a:solidFill>
          <a:ln w="9525">
            <a:solidFill>
              <a:srgbClr val="38BDF8"/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902" y="1544422"/>
            <a:ext cx="294437" cy="294437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640080" y="214884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0" b="1" spc="200" kern="0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ASTRA</a:t>
            </a:r>
            <a:endParaRPr lang="en-US" sz="8400" dirty="0"/>
          </a:p>
        </p:txBody>
      </p:sp>
      <p:sp>
        <p:nvSpPr>
          <p:cNvPr id="18" name="Text 15"/>
          <p:cNvSpPr/>
          <p:nvPr/>
        </p:nvSpPr>
        <p:spPr>
          <a:xfrm>
            <a:off x="640080" y="34290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Spatial Intelligence for Large Public Spaces</a:t>
            </a:r>
            <a:endParaRPr lang="en-US" sz="2300" dirty="0"/>
          </a:p>
        </p:txBody>
      </p:sp>
      <p:sp>
        <p:nvSpPr>
          <p:cNvPr id="19" name="Text 16"/>
          <p:cNvSpPr/>
          <p:nvPr/>
        </p:nvSpPr>
        <p:spPr>
          <a:xfrm>
            <a:off x="640080" y="406908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watching cameras to predicting and preventing crowd disasters — the reasoning layer for the world's largest gatherings.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640080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5B7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Observation  ›  Understanding  ›  Prediction  ›  Recommendation  ›  Action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 · THE SETTING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world's largest gathering is a temporary city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276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 Kumbh 2025, Prayagraj — a city of hundreds of millions built on a riverbank, dissolved in six weeks. Its scale is its risk.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2542032" cy="3017520"/>
          </a:xfrm>
          <a:prstGeom prst="roundRect">
            <a:avLst>
              <a:gd name="adj" fmla="val 3597"/>
            </a:avLst>
          </a:prstGeom>
          <a:solidFill>
            <a:srgbClr val="16243D"/>
          </a:solidFill>
          <a:ln/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880360"/>
            <a:ext cx="777240" cy="777240"/>
          </a:xfrm>
          <a:prstGeom prst="ellipse">
            <a:avLst/>
          </a:prstGeom>
          <a:solidFill>
            <a:srgbClr val="1B2C49"/>
          </a:solidFill>
          <a:ln w="9525">
            <a:solidFill>
              <a:srgbClr val="38BDF8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9975" y="3090215"/>
            <a:ext cx="357530" cy="35753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3840480"/>
            <a:ext cx="20848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~660M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868680" y="4526280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pilgrims over 45 days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68680" y="4965192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≈65% above the ~400M planned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429000" y="2514600"/>
            <a:ext cx="2542032" cy="3017520"/>
          </a:xfrm>
          <a:prstGeom prst="roundRect">
            <a:avLst>
              <a:gd name="adj" fmla="val 3597"/>
            </a:avLst>
          </a:prstGeom>
          <a:solidFill>
            <a:srgbClr val="16243D"/>
          </a:solidFill>
          <a:ln/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749040" y="2880360"/>
            <a:ext cx="777240" cy="777240"/>
          </a:xfrm>
          <a:prstGeom prst="ellipse">
            <a:avLst/>
          </a:prstGeom>
          <a:solidFill>
            <a:srgbClr val="1B2C49"/>
          </a:solidFill>
          <a:ln w="9525">
            <a:solidFill>
              <a:srgbClr val="38BDF8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8895" y="3090215"/>
            <a:ext cx="357530" cy="35753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57600" y="3840480"/>
            <a:ext cx="20848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4,000 ha</a:t>
            </a:r>
            <a:endParaRPr lang="en-US" sz="3800" dirty="0"/>
          </a:p>
        </p:txBody>
      </p:sp>
      <p:sp>
        <p:nvSpPr>
          <p:cNvPr id="15" name="Text 11"/>
          <p:cNvSpPr/>
          <p:nvPr/>
        </p:nvSpPr>
        <p:spPr>
          <a:xfrm>
            <a:off x="3657600" y="4526280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temporary city footprint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3657600" y="4965192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~150,000 tents · 450+ km roads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217920" y="2514600"/>
            <a:ext cx="2542032" cy="3017520"/>
          </a:xfrm>
          <a:prstGeom prst="roundRect">
            <a:avLst>
              <a:gd name="adj" fmla="val 3597"/>
            </a:avLst>
          </a:prstGeom>
          <a:solidFill>
            <a:srgbClr val="16243D"/>
          </a:solidFill>
          <a:ln/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537960" y="2880360"/>
            <a:ext cx="777240" cy="777240"/>
          </a:xfrm>
          <a:prstGeom prst="ellipse">
            <a:avLst/>
          </a:prstGeom>
          <a:solidFill>
            <a:srgbClr val="1B2C49"/>
          </a:solidFill>
          <a:ln w="9525">
            <a:solidFill>
              <a:srgbClr val="38BDF8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7815" y="3090215"/>
            <a:ext cx="357530" cy="35753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446520" y="3840480"/>
            <a:ext cx="20848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3800" dirty="0"/>
          </a:p>
        </p:txBody>
      </p:sp>
      <p:sp>
        <p:nvSpPr>
          <p:cNvPr id="21" name="Text 16"/>
          <p:cNvSpPr/>
          <p:nvPr/>
        </p:nvSpPr>
        <p:spPr>
          <a:xfrm>
            <a:off x="6446520" y="4526280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administrative sectors</a:t>
            </a:r>
            <a:endParaRPr lang="en-US" sz="1350" dirty="0"/>
          </a:p>
        </p:txBody>
      </p:sp>
      <p:sp>
        <p:nvSpPr>
          <p:cNvPr id="22" name="Text 17"/>
          <p:cNvSpPr/>
          <p:nvPr/>
        </p:nvSpPr>
        <p:spPr>
          <a:xfrm>
            <a:off x="6446520" y="4965192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km of bathing ghats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9006840" y="2514600"/>
            <a:ext cx="2542032" cy="3017520"/>
          </a:xfrm>
          <a:prstGeom prst="roundRect">
            <a:avLst>
              <a:gd name="adj" fmla="val 3597"/>
            </a:avLst>
          </a:prstGeom>
          <a:solidFill>
            <a:srgbClr val="16243D"/>
          </a:solidFill>
          <a:ln/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9326880" y="2880360"/>
            <a:ext cx="777240" cy="777240"/>
          </a:xfrm>
          <a:prstGeom prst="ellipse">
            <a:avLst/>
          </a:prstGeom>
          <a:solidFill>
            <a:srgbClr val="1B2C49"/>
          </a:solidFill>
          <a:ln w="9525">
            <a:solidFill>
              <a:srgbClr val="38BDF8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36735" y="3090215"/>
            <a:ext cx="357530" cy="35753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235440" y="3840480"/>
            <a:ext cx="20848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~30</a:t>
            </a:r>
            <a:endParaRPr lang="en-US" sz="3800" dirty="0"/>
          </a:p>
        </p:txBody>
      </p:sp>
      <p:sp>
        <p:nvSpPr>
          <p:cNvPr id="27" name="Text 21"/>
          <p:cNvSpPr/>
          <p:nvPr/>
        </p:nvSpPr>
        <p:spPr>
          <a:xfrm>
            <a:off x="9235440" y="4526280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pontoon bridges</a:t>
            </a:r>
            <a:endParaRPr lang="en-US" sz="1350" dirty="0"/>
          </a:p>
        </p:txBody>
      </p:sp>
      <p:sp>
        <p:nvSpPr>
          <p:cNvPr id="28" name="Text 22"/>
          <p:cNvSpPr/>
          <p:nvPr/>
        </p:nvSpPr>
        <p:spPr>
          <a:xfrm>
            <a:off x="9235440" y="4965192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arteries of the mela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640080" y="64008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7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figures for Maha Kumbh 2025 (Prayagraj). Attendance and layout numbers per public reporting; treat as approximate.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January 2025 — the Sangam crowd crush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6492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Mauni Amavasya, the peak bathing night, a fatal crush unfolded at the Sangam Nose around 1 AM — and it was not one event.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2514600"/>
            <a:ext cx="6492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initial surge toward the river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crush at an exit point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third when fleeing crowds hit closed pontoon bridges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further crush near Mukti Marg / Kalpavriksh Dwar (~8 AM)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4434840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sequential crushes — a bottleneck cascading into new bottlenecks.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543800" y="1691640"/>
            <a:ext cx="3977640" cy="4023360"/>
          </a:xfrm>
          <a:prstGeom prst="roundRect">
            <a:avLst>
              <a:gd name="adj" fmla="val 2299"/>
            </a:avLst>
          </a:prstGeom>
          <a:solidFill>
            <a:srgbClr val="16243D"/>
          </a:solidFill>
          <a:ln/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863840" y="2011680"/>
            <a:ext cx="731520" cy="731520"/>
          </a:xfrm>
          <a:prstGeom prst="ellipse">
            <a:avLst/>
          </a:prstGeom>
          <a:solidFill>
            <a:srgbClr val="2A1620"/>
          </a:solidFill>
          <a:ln w="9525">
            <a:solidFill>
              <a:srgbClr val="38BDF8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1350" y="2209190"/>
            <a:ext cx="336499" cy="336499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778240" y="210312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disputed death toll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7909560" y="301752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pPr indent="0" marL="0">
              <a:buNone/>
            </a:pPr>
            <a:r>
              <a:rPr lang="en-US" sz="1400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official (UP govt)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7909560" y="370332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79–82+</a:t>
            </a:r>
            <a:pPr indent="0" marL="0">
              <a:buNone/>
            </a:pPr>
            <a:r>
              <a:rPr lang="en-US" sz="1400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independent investigations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7909560" y="448056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Newslaundry ≥79 · BBC Hindi ≥82 · 69 bodies arrived “brought dead” with no autopsies. The union government gave no figure.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640080" y="64008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7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Wikipedia; Newslaundry; BBC Hindi (via Vartha Bharati / The South First); The Wire. Toll is a disputed range, not a settled number.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PARADOX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38B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1280160" y="1783080"/>
            <a:ext cx="9692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cameras were sending us timely alerts on crowd surge from every junction — </a:t>
            </a:r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there were not enough people on the ground to prevent the jam.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325880" y="4343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Senior Maha Kumbh administrator (via Context / Thomson Reuters Foundation)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325880" y="5074920"/>
            <a:ext cx="9509760" cy="1097280"/>
          </a:xfrm>
          <a:prstGeom prst="roundRect">
            <a:avLst>
              <a:gd name="adj" fmla="val 6667"/>
            </a:avLst>
          </a:prstGeom>
          <a:solidFill>
            <a:srgbClr val="16243D"/>
          </a:solidFill>
          <a:ln/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645920" y="5074920"/>
            <a:ext cx="8869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most surveilled event ever staged — and the crush still happened.  </a:t>
            </a:r>
            <a:pPr indent="0" marL="0">
              <a:buNone/>
            </a:pPr>
            <a:r>
              <a:rPr lang="en-US" sz="15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failure was not sensing. It was acting on what was sensed.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REAL CHALLENGES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crowds turn deadly — despite the technology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3502152" cy="1783080"/>
          </a:xfrm>
          <a:prstGeom prst="roundRect">
            <a:avLst>
              <a:gd name="adj" fmla="val 4615"/>
            </a:avLst>
          </a:prstGeom>
          <a:solidFill>
            <a:srgbClr val="16243D"/>
          </a:solidFill>
          <a:ln/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606040"/>
            <a:ext cx="640080" cy="640080"/>
          </a:xfrm>
          <a:prstGeom prst="ellipse">
            <a:avLst/>
          </a:prstGeom>
          <a:solidFill>
            <a:srgbClr val="2A2415"/>
          </a:solidFill>
          <a:ln w="9525">
            <a:solidFill>
              <a:srgbClr val="38BDF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934" y="2778862"/>
            <a:ext cx="294437" cy="29443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64208" y="2660904"/>
            <a:ext cx="2313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Upstream pressure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96112" y="3291840"/>
            <a:ext cx="2999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crush builds hours earlier from rail, bus &amp; approach roads — far from where people die.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70832" y="2331720"/>
            <a:ext cx="3502152" cy="1783080"/>
          </a:xfrm>
          <a:prstGeom prst="roundRect">
            <a:avLst>
              <a:gd name="adj" fmla="val 4615"/>
            </a:avLst>
          </a:prstGeom>
          <a:solidFill>
            <a:srgbClr val="16243D"/>
          </a:solidFill>
          <a:ln/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26864" y="2606040"/>
            <a:ext cx="640080" cy="640080"/>
          </a:xfrm>
          <a:prstGeom prst="ellipse">
            <a:avLst/>
          </a:prstGeom>
          <a:solidFill>
            <a:srgbClr val="2A2415"/>
          </a:solidFill>
          <a:ln w="9525">
            <a:solidFill>
              <a:srgbClr val="38BDF8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9686" y="2778862"/>
            <a:ext cx="294437" cy="29443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94960" y="2660904"/>
            <a:ext cx="2313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Counterflow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4626864" y="3291840"/>
            <a:ext cx="2999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Crowds moving both ways on one path halve capacity — a classic crush trigger.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01584" y="2331720"/>
            <a:ext cx="3502152" cy="1783080"/>
          </a:xfrm>
          <a:prstGeom prst="roundRect">
            <a:avLst>
              <a:gd name="adj" fmla="val 4615"/>
            </a:avLst>
          </a:prstGeom>
          <a:solidFill>
            <a:srgbClr val="16243D"/>
          </a:solidFill>
          <a:ln/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57616" y="2606040"/>
            <a:ext cx="640080" cy="640080"/>
          </a:xfrm>
          <a:prstGeom prst="ellipse">
            <a:avLst/>
          </a:prstGeom>
          <a:solidFill>
            <a:srgbClr val="2A2415"/>
          </a:solidFill>
          <a:ln w="9525">
            <a:solidFill>
              <a:srgbClr val="38BDF8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0438" y="2778862"/>
            <a:ext cx="294437" cy="29443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25712" y="2660904"/>
            <a:ext cx="2313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closures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8357616" y="3291840"/>
            <a:ext cx="2999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pontoon bridges &amp; VIP diversions remove release valves and force cascades.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40080" y="4343400"/>
            <a:ext cx="3502152" cy="1783080"/>
          </a:xfrm>
          <a:prstGeom prst="roundRect">
            <a:avLst>
              <a:gd name="adj" fmla="val 4615"/>
            </a:avLst>
          </a:prstGeom>
          <a:solidFill>
            <a:srgbClr val="16243D"/>
          </a:solidFill>
          <a:ln/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96112" y="4617720"/>
            <a:ext cx="640080" cy="640080"/>
          </a:xfrm>
          <a:prstGeom prst="ellipse">
            <a:avLst/>
          </a:prstGeom>
          <a:solidFill>
            <a:srgbClr val="2A2415"/>
          </a:solidFill>
          <a:ln w="9525">
            <a:solidFill>
              <a:srgbClr val="38BDF8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8934" y="4790542"/>
            <a:ext cx="294437" cy="29443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64208" y="4672584"/>
            <a:ext cx="2313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Stagnation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896112" y="5303520"/>
            <a:ext cx="2999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density with near-zero flow — the specific lethal condition, not headcount alone.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370832" y="4343400"/>
            <a:ext cx="3502152" cy="1783080"/>
          </a:xfrm>
          <a:prstGeom prst="roundRect">
            <a:avLst>
              <a:gd name="adj" fmla="val 4615"/>
            </a:avLst>
          </a:prstGeom>
          <a:solidFill>
            <a:srgbClr val="16243D"/>
          </a:solidFill>
          <a:ln/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26864" y="4617720"/>
            <a:ext cx="640080" cy="640080"/>
          </a:xfrm>
          <a:prstGeom prst="ellipse">
            <a:avLst/>
          </a:prstGeom>
          <a:solidFill>
            <a:srgbClr val="2A2415"/>
          </a:solidFill>
          <a:ln w="9525">
            <a:solidFill>
              <a:srgbClr val="38BDF8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9686" y="4790542"/>
            <a:ext cx="294437" cy="29443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394960" y="4672584"/>
            <a:ext cx="2313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Cognitive overload</a:t>
            </a:r>
            <a:endParaRPr lang="en-US" sz="1550" dirty="0"/>
          </a:p>
        </p:txBody>
      </p:sp>
      <p:sp>
        <p:nvSpPr>
          <p:cNvPr id="28" name="Text 21"/>
          <p:cNvSpPr/>
          <p:nvPr/>
        </p:nvSpPr>
        <p:spPr>
          <a:xfrm>
            <a:off x="4626864" y="5303520"/>
            <a:ext cx="2999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Hundreds of live feeds, a handful of operators, the busiest night of the year.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101584" y="4343400"/>
            <a:ext cx="3502152" cy="1783080"/>
          </a:xfrm>
          <a:prstGeom prst="roundRect">
            <a:avLst>
              <a:gd name="adj" fmla="val 4615"/>
            </a:avLst>
          </a:prstGeom>
          <a:solidFill>
            <a:srgbClr val="16243D"/>
          </a:solidFill>
          <a:ln/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57616" y="4617720"/>
            <a:ext cx="640080" cy="640080"/>
          </a:xfrm>
          <a:prstGeom prst="ellipse">
            <a:avLst/>
          </a:prstGeom>
          <a:solidFill>
            <a:srgbClr val="2A2415"/>
          </a:solidFill>
          <a:ln w="9525">
            <a:solidFill>
              <a:srgbClr val="38BDF8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0438" y="4790542"/>
            <a:ext cx="294437" cy="294437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125712" y="4672584"/>
            <a:ext cx="2313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Fragmented agencies</a:t>
            </a:r>
            <a:endParaRPr lang="en-US" sz="1550" dirty="0"/>
          </a:p>
        </p:txBody>
      </p:sp>
      <p:sp>
        <p:nvSpPr>
          <p:cNvPr id="33" name="Text 25"/>
          <p:cNvSpPr/>
          <p:nvPr/>
        </p:nvSpPr>
        <p:spPr>
          <a:xfrm>
            <a:off x="8357616" y="5303520"/>
            <a:ext cx="2999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Police, railways, health &amp; rescue each watch their own screen — no shared brain.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GAPS IN EXISTING SOLUTIONS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systems answer the wrong question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5257800" cy="2880360"/>
          </a:xfrm>
          <a:prstGeom prst="roundRect">
            <a:avLst>
              <a:gd name="adj" fmla="val 3175"/>
            </a:avLst>
          </a:prstGeom>
          <a:solidFill>
            <a:srgbClr val="16243D"/>
          </a:solidFill>
          <a:ln/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251460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today's systems do</a:t>
            </a:r>
            <a:endParaRPr lang="en-US" sz="1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3154680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53312" y="3108960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cameras, drones &amp; AI command centres</a:t>
            </a:r>
            <a:endParaRPr lang="en-US" sz="12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3657600"/>
            <a:ext cx="219456" cy="2194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53312" y="3611880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headcount &amp; density estimation</a:t>
            </a:r>
            <a:endParaRPr lang="en-US" sz="12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160520"/>
            <a:ext cx="219456" cy="21945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353312" y="4114800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 alerts when a threshold is crossed</a:t>
            </a:r>
            <a:endParaRPr lang="en-US" sz="12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4663440"/>
            <a:ext cx="219456" cy="21945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353312" y="4617720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wall of live feeds for human operators</a:t>
            </a:r>
            <a:endParaRPr lang="en-US" sz="1250" dirty="0"/>
          </a:p>
        </p:txBody>
      </p:sp>
      <p:sp>
        <p:nvSpPr>
          <p:cNvPr id="14" name="Shape 8"/>
          <p:cNvSpPr/>
          <p:nvPr/>
        </p:nvSpPr>
        <p:spPr>
          <a:xfrm>
            <a:off x="6172200" y="2286000"/>
            <a:ext cx="5257800" cy="2880360"/>
          </a:xfrm>
          <a:prstGeom prst="roundRect">
            <a:avLst>
              <a:gd name="adj" fmla="val 3175"/>
            </a:avLst>
          </a:prstGeom>
          <a:solidFill>
            <a:srgbClr val="1B2C49"/>
          </a:solidFill>
          <a:ln/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5" name="Text 9"/>
          <p:cNvSpPr/>
          <p:nvPr/>
        </p:nvSpPr>
        <p:spPr>
          <a:xfrm>
            <a:off x="6492240" y="251460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operators actually need</a:t>
            </a:r>
            <a:endParaRPr lang="en-US" sz="16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9672" y="3154680"/>
            <a:ext cx="219456" cy="219456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885432" y="3108960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will happen next — and when</a:t>
            </a:r>
            <a:endParaRPr lang="en-US" sz="125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9672" y="3657600"/>
            <a:ext cx="219456" cy="219456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885432" y="3611880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route or facility breaks first</a:t>
            </a:r>
            <a:endParaRPr lang="en-US" sz="1250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19672" y="4160520"/>
            <a:ext cx="219456" cy="219456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6885432" y="4114800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specific action, sized to responders</a:t>
            </a:r>
            <a:endParaRPr lang="en-US" sz="1250" dirty="0"/>
          </a:p>
        </p:txBody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19672" y="4663440"/>
            <a:ext cx="219456" cy="219456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6885432" y="4617720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expected impact, before committing</a:t>
            </a:r>
            <a:endParaRPr lang="en-US" sz="1250" dirty="0"/>
          </a:p>
        </p:txBody>
      </p:sp>
      <p:sp>
        <p:nvSpPr>
          <p:cNvPr id="24" name="Text 14"/>
          <p:cNvSpPr/>
          <p:nvPr/>
        </p:nvSpPr>
        <p:spPr>
          <a:xfrm>
            <a:off x="640080" y="58064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challenge is no longer computer vision.  </a:t>
            </a:r>
            <a:pPr algn="ctr" indent="0" marL="0">
              <a:buNone/>
            </a:pPr>
            <a:r>
              <a:rPr lang="en-US" sz="19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operational reasoning.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INTRODUCING ASTRA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700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reasoning layer that turns the cameras they already have into a </a:t>
            </a:r>
            <a:pPr indent="0" marL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10–15 minute head start and one clear move.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303020" y="3863340"/>
            <a:ext cx="9555480" cy="0"/>
          </a:xfrm>
          <a:prstGeom prst="line">
            <a:avLst/>
          </a:prstGeom>
          <a:noFill/>
          <a:ln w="19050">
            <a:solidFill>
              <a:srgbClr val="38BDF8">
                <a:alpha val="5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3200400"/>
            <a:ext cx="1325880" cy="1325880"/>
          </a:xfrm>
          <a:prstGeom prst="ellipse">
            <a:avLst/>
          </a:prstGeom>
          <a:solidFill>
            <a:srgbClr val="16243D"/>
          </a:solidFill>
          <a:ln w="9525">
            <a:solidFill>
              <a:srgbClr val="38BDF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068" y="3558388"/>
            <a:ext cx="609905" cy="60990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" y="46177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82880" y="49834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cameras, drones, reports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2268855" y="35433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600" dirty="0"/>
          </a:p>
        </p:txBody>
      </p:sp>
      <p:sp>
        <p:nvSpPr>
          <p:cNvPr id="10" name="Shape 7"/>
          <p:cNvSpPr/>
          <p:nvPr/>
        </p:nvSpPr>
        <p:spPr>
          <a:xfrm>
            <a:off x="3028950" y="3200400"/>
            <a:ext cx="1325880" cy="1325880"/>
          </a:xfrm>
          <a:prstGeom prst="ellipse">
            <a:avLst/>
          </a:prstGeom>
          <a:solidFill>
            <a:srgbClr val="16243D"/>
          </a:solidFill>
          <a:ln w="9525">
            <a:solidFill>
              <a:srgbClr val="38BDF8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6938" y="3558388"/>
            <a:ext cx="609905" cy="60990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571750" y="46177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2571750" y="49834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spatial graph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4657725" y="35433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600" dirty="0"/>
          </a:p>
        </p:txBody>
      </p:sp>
      <p:sp>
        <p:nvSpPr>
          <p:cNvPr id="15" name="Shape 11"/>
          <p:cNvSpPr/>
          <p:nvPr/>
        </p:nvSpPr>
        <p:spPr>
          <a:xfrm>
            <a:off x="5417820" y="3200400"/>
            <a:ext cx="1325880" cy="1325880"/>
          </a:xfrm>
          <a:prstGeom prst="ellipse">
            <a:avLst/>
          </a:prstGeom>
          <a:solidFill>
            <a:srgbClr val="16243D"/>
          </a:solidFill>
          <a:ln w="9525">
            <a:solidFill>
              <a:srgbClr val="38BDF8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5808" y="3558388"/>
            <a:ext cx="609905" cy="60990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960620" y="46177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4960620" y="49834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15-min forecast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7046595" y="35433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600" dirty="0"/>
          </a:p>
        </p:txBody>
      </p:sp>
      <p:sp>
        <p:nvSpPr>
          <p:cNvPr id="20" name="Shape 15"/>
          <p:cNvSpPr/>
          <p:nvPr/>
        </p:nvSpPr>
        <p:spPr>
          <a:xfrm>
            <a:off x="7806690" y="3200400"/>
            <a:ext cx="1325880" cy="1325880"/>
          </a:xfrm>
          <a:prstGeom prst="ellipse">
            <a:avLst/>
          </a:prstGeom>
          <a:solidFill>
            <a:srgbClr val="16243D"/>
          </a:solidFill>
          <a:ln w="9525">
            <a:solidFill>
              <a:srgbClr val="38BDF8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4678" y="3558388"/>
            <a:ext cx="609905" cy="60990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49490" y="46177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349490" y="49834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ranked action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9435465" y="35433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600" dirty="0"/>
          </a:p>
        </p:txBody>
      </p:sp>
      <p:sp>
        <p:nvSpPr>
          <p:cNvPr id="25" name="Shape 19"/>
          <p:cNvSpPr/>
          <p:nvPr/>
        </p:nvSpPr>
        <p:spPr>
          <a:xfrm>
            <a:off x="10195560" y="3200400"/>
            <a:ext cx="1325880" cy="1325880"/>
          </a:xfrm>
          <a:prstGeom prst="ellipse">
            <a:avLst/>
          </a:prstGeom>
          <a:solidFill>
            <a:srgbClr val="16243D"/>
          </a:solidFill>
          <a:ln w="9525">
            <a:solidFill>
              <a:srgbClr val="38BDF8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53548" y="3558388"/>
            <a:ext cx="609905" cy="60990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738360" y="46177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9738360" y="49834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divert · meter · release</a:t>
            </a:r>
            <a:endParaRPr lang="en-US" sz="1050" dirty="0"/>
          </a:p>
        </p:txBody>
      </p:sp>
      <p:sp>
        <p:nvSpPr>
          <p:cNvPr id="29" name="Text 22"/>
          <p:cNvSpPr/>
          <p:nvPr/>
        </p:nvSpPr>
        <p:spPr>
          <a:xfrm>
            <a:off x="640080" y="58978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B7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Astra is built at exactly the layer that failed in 2025 — not the sensing layer, the deciding layer.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Spatial Knowledge Graph, many reasoners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2763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feed becomes an observation on a shared graph of places, paths, sensors &amp; resources. Specialised reasoners compute risk; nothing is mutated without a traceable event.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2651760" cy="1691640"/>
          </a:xfrm>
          <a:prstGeom prst="roundRect">
            <a:avLst>
              <a:gd name="adj" fmla="val 4865"/>
            </a:avLst>
          </a:prstGeom>
          <a:solidFill>
            <a:srgbClr val="16243D"/>
          </a:solidFill>
          <a:ln/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600200" y="2697480"/>
            <a:ext cx="731520" cy="731520"/>
          </a:xfrm>
          <a:prstGeom prst="ellipse">
            <a:avLst/>
          </a:prstGeom>
          <a:solidFill>
            <a:srgbClr val="1B2C49"/>
          </a:solidFill>
          <a:ln w="9525">
            <a:solidFill>
              <a:srgbClr val="38BDF8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7710" y="2894990"/>
            <a:ext cx="336499" cy="33649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3429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77240" y="37673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cameras · drones · IoT · reports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214116" y="299466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3538728" y="2468880"/>
            <a:ext cx="2651760" cy="1691640"/>
          </a:xfrm>
          <a:prstGeom prst="roundRect">
            <a:avLst>
              <a:gd name="adj" fmla="val 4865"/>
            </a:avLst>
          </a:prstGeom>
          <a:solidFill>
            <a:srgbClr val="16243D"/>
          </a:solidFill>
          <a:ln/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498848" y="2697480"/>
            <a:ext cx="731520" cy="731520"/>
          </a:xfrm>
          <a:prstGeom prst="ellipse">
            <a:avLst/>
          </a:prstGeom>
          <a:solidFill>
            <a:srgbClr val="1B2C49"/>
          </a:solidFill>
          <a:ln w="9525">
            <a:solidFill>
              <a:srgbClr val="38BDF8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6358" y="2894990"/>
            <a:ext cx="336499" cy="33649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75888" y="3429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Spatial Knowledge Graph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3675888" y="37673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 · relationships · event log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6112764" y="299466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400" dirty="0"/>
          </a:p>
        </p:txBody>
      </p:sp>
      <p:sp>
        <p:nvSpPr>
          <p:cNvPr id="17" name="Shape 13"/>
          <p:cNvSpPr/>
          <p:nvPr/>
        </p:nvSpPr>
        <p:spPr>
          <a:xfrm>
            <a:off x="6437376" y="2468880"/>
            <a:ext cx="2651760" cy="1691640"/>
          </a:xfrm>
          <a:prstGeom prst="roundRect">
            <a:avLst>
              <a:gd name="adj" fmla="val 4865"/>
            </a:avLst>
          </a:prstGeom>
          <a:solidFill>
            <a:srgbClr val="16243D"/>
          </a:solidFill>
          <a:ln/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397496" y="2697480"/>
            <a:ext cx="731520" cy="731520"/>
          </a:xfrm>
          <a:prstGeom prst="ellipse">
            <a:avLst/>
          </a:prstGeom>
          <a:solidFill>
            <a:srgbClr val="1B2C49"/>
          </a:solidFill>
          <a:ln w="9525">
            <a:solidFill>
              <a:srgbClr val="38BDF8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5006" y="2894990"/>
            <a:ext cx="336499" cy="336499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574536" y="3429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Reasoners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6574536" y="37673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· density · physiology · river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9011412" y="299466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400" dirty="0"/>
          </a:p>
        </p:txBody>
      </p:sp>
      <p:sp>
        <p:nvSpPr>
          <p:cNvPr id="23" name="Shape 18"/>
          <p:cNvSpPr/>
          <p:nvPr/>
        </p:nvSpPr>
        <p:spPr>
          <a:xfrm>
            <a:off x="9336024" y="2468880"/>
            <a:ext cx="2651760" cy="1691640"/>
          </a:xfrm>
          <a:prstGeom prst="roundRect">
            <a:avLst>
              <a:gd name="adj" fmla="val 4865"/>
            </a:avLst>
          </a:prstGeom>
          <a:solidFill>
            <a:srgbClr val="16243D"/>
          </a:solidFill>
          <a:ln/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10296144" y="2697480"/>
            <a:ext cx="731520" cy="731520"/>
          </a:xfrm>
          <a:prstGeom prst="ellipse">
            <a:avLst/>
          </a:prstGeom>
          <a:solidFill>
            <a:srgbClr val="1B2C49"/>
          </a:solidFill>
          <a:ln w="9525">
            <a:solidFill>
              <a:srgbClr val="38BDF8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93654" y="2894990"/>
            <a:ext cx="336499" cy="336499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473184" y="3429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</a:t>
            </a:r>
            <a:endParaRPr lang="en-US" sz="1350" dirty="0"/>
          </a:p>
        </p:txBody>
      </p:sp>
      <p:sp>
        <p:nvSpPr>
          <p:cNvPr id="27" name="Text 21"/>
          <p:cNvSpPr/>
          <p:nvPr/>
        </p:nvSpPr>
        <p:spPr>
          <a:xfrm>
            <a:off x="9473184" y="37673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action + expected impact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640080" y="4709160"/>
            <a:ext cx="10881360" cy="1143000"/>
          </a:xfrm>
          <a:prstGeom prst="roundRect">
            <a:avLst>
              <a:gd name="adj" fmla="val 8000"/>
            </a:avLst>
          </a:prstGeom>
          <a:solidFill>
            <a:srgbClr val="1B2C49"/>
          </a:solidFill>
          <a:ln/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29" name="Text 23"/>
          <p:cNvSpPr/>
          <p:nvPr/>
        </p:nvSpPr>
        <p:spPr>
          <a:xfrm>
            <a:off x="1005840" y="4709160"/>
            <a:ext cx="10149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cameras. Same control room.  </a:t>
            </a:r>
            <a:pPr algn="ctr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with a 10–15 minute head start and one specific, sized action.</a:t>
            </a:r>
            <a:endParaRPr lang="en-US" sz="1800" dirty="0"/>
          </a:p>
        </p:txBody>
      </p:sp>
      <p:sp>
        <p:nvSpPr>
          <p:cNvPr id="30" name="Text 24"/>
          <p:cNvSpPr/>
          <p:nvPr/>
        </p:nvSpPr>
        <p:spPr>
          <a:xfrm>
            <a:off x="640080" y="64008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7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&amp; explainable: every recommendation traces back through prediction → observation → sensor. No new hardware required.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ASTRA IS DIFFERENT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Predictive, explainable, honest — and deployable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5257800" cy="1783080"/>
          </a:xfrm>
          <a:prstGeom prst="roundRect">
            <a:avLst>
              <a:gd name="adj" fmla="val 4615"/>
            </a:avLst>
          </a:prstGeom>
          <a:solidFill>
            <a:srgbClr val="16243D"/>
          </a:solidFill>
          <a:ln/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2670048"/>
            <a:ext cx="777240" cy="777240"/>
          </a:xfrm>
          <a:prstGeom prst="ellipse">
            <a:avLst/>
          </a:prstGeom>
          <a:solidFill>
            <a:srgbClr val="1B2C49"/>
          </a:solidFill>
          <a:ln w="9525">
            <a:solidFill>
              <a:srgbClr val="38BDF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2543" y="2879903"/>
            <a:ext cx="357530" cy="3575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20240" y="2688336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Predictive, not reactive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920240" y="3218688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Forecasts where pressure builds 10–15 min ahead, catching the upstream surge before the crush point.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72200" y="2377440"/>
            <a:ext cx="5257800" cy="1783080"/>
          </a:xfrm>
          <a:prstGeom prst="roundRect">
            <a:avLst>
              <a:gd name="adj" fmla="val 4615"/>
            </a:avLst>
          </a:prstGeom>
          <a:solidFill>
            <a:srgbClr val="16243D"/>
          </a:solidFill>
          <a:ln/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64808" y="2670048"/>
            <a:ext cx="777240" cy="777240"/>
          </a:xfrm>
          <a:prstGeom prst="ellipse">
            <a:avLst/>
          </a:prstGeom>
          <a:solidFill>
            <a:srgbClr val="1B2C49"/>
          </a:solidFill>
          <a:ln w="9525">
            <a:solidFill>
              <a:srgbClr val="38BDF8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4663" y="2879903"/>
            <a:ext cx="357530" cy="35753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52360" y="2688336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 by design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452360" y="3218688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alert traces observation → prediction → rule → action. Auditable enough for government adoption.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" y="4434840"/>
            <a:ext cx="5257800" cy="1783080"/>
          </a:xfrm>
          <a:prstGeom prst="roundRect">
            <a:avLst>
              <a:gd name="adj" fmla="val 4615"/>
            </a:avLst>
          </a:prstGeom>
          <a:solidFill>
            <a:srgbClr val="16243D"/>
          </a:solidFill>
          <a:ln/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32688" y="4727448"/>
            <a:ext cx="777240" cy="777240"/>
          </a:xfrm>
          <a:prstGeom prst="ellipse">
            <a:avLst/>
          </a:prstGeom>
          <a:solidFill>
            <a:srgbClr val="1B2C49"/>
          </a:solidFill>
          <a:ln w="9525">
            <a:solidFill>
              <a:srgbClr val="38BDF8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543" y="4937303"/>
            <a:ext cx="357530" cy="35753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920240" y="4745736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about limits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920240" y="5276088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discounted for real-world compliance. Decision-support, never a “guaranteed safe” promise.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172200" y="4434840"/>
            <a:ext cx="5257800" cy="1783080"/>
          </a:xfrm>
          <a:prstGeom prst="roundRect">
            <a:avLst>
              <a:gd name="adj" fmla="val 4615"/>
            </a:avLst>
          </a:prstGeom>
          <a:solidFill>
            <a:srgbClr val="16243D"/>
          </a:solidFill>
          <a:ln/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64808" y="4727448"/>
            <a:ext cx="777240" cy="777240"/>
          </a:xfrm>
          <a:prstGeom prst="ellipse">
            <a:avLst/>
          </a:prstGeom>
          <a:solidFill>
            <a:srgbClr val="1B2C49"/>
          </a:solidFill>
          <a:ln w="9525">
            <a:solidFill>
              <a:srgbClr val="38BDF8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4663" y="4937303"/>
            <a:ext cx="357530" cy="35753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52360" y="4745736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new hardware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452360" y="5276088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existing cameras &amp; command centres. One engine later powers airports, stadiums, smart cities.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· THE DEMO SCENARIO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Amrit Snan morning surge — caught in time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640080" cy="640080"/>
          </a:xfrm>
          <a:prstGeom prst="ellipse">
            <a:avLst/>
          </a:prstGeom>
          <a:solidFill>
            <a:srgbClr val="16243D"/>
          </a:solidFill>
          <a:ln w="9525">
            <a:solidFill>
              <a:srgbClr val="38BDF8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902" y="2504542"/>
            <a:ext cx="294437" cy="29443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231343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508760" y="2660904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Bridge will hit 94% safe capacity in 12 minutes.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3502152"/>
            <a:ext cx="640080" cy="640080"/>
          </a:xfrm>
          <a:prstGeom prst="ellipse">
            <a:avLst/>
          </a:prstGeom>
          <a:solidFill>
            <a:srgbClr val="16243D"/>
          </a:solidFill>
          <a:ln w="9525">
            <a:solidFill>
              <a:srgbClr val="38BDF8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902" y="3674974"/>
            <a:ext cx="294437" cy="29443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348386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508760" y="3831336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Divert 35% of Entry-Gate flow to Route B; hold the emergency lane.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" y="4672584"/>
            <a:ext cx="640080" cy="640080"/>
          </a:xfrm>
          <a:prstGeom prst="ellipse">
            <a:avLst/>
          </a:prstGeom>
          <a:solidFill>
            <a:srgbClr val="16243D"/>
          </a:solidFill>
          <a:ln w="9525">
            <a:solidFill>
              <a:srgbClr val="38BDF8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902" y="4845406"/>
            <a:ext cx="294437" cy="29443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08760" y="465429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508760" y="500176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congestion falls 0.94 → 0.67 — discounted for compliance.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492240" y="2240280"/>
            <a:ext cx="5029200" cy="3337560"/>
          </a:xfrm>
          <a:prstGeom prst="roundRect">
            <a:avLst>
              <a:gd name="adj" fmla="val 2740"/>
            </a:avLst>
          </a:prstGeom>
          <a:solidFill>
            <a:srgbClr val="16243D"/>
          </a:solidFill>
          <a:ln/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7" name="Text 12"/>
          <p:cNvSpPr/>
          <p:nvPr/>
        </p:nvSpPr>
        <p:spPr>
          <a:xfrm>
            <a:off x="6812280" y="239572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Bridge congestion score</a:t>
            </a:r>
            <a:endParaRPr lang="en-US" sz="135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6720840" y="2788920"/>
          <a:ext cx="457200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9" name="Text 13"/>
          <p:cNvSpPr/>
          <p:nvPr/>
        </p:nvSpPr>
        <p:spPr>
          <a:xfrm>
            <a:off x="640080" y="64008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7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scenario from the deterministic engine. Numbers are computed from seed data, not hand-set — they change if the data changes.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VISION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engine. Every crowded place.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Spatial Intelligence Engine — only the operational domain changes.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2011680" cy="1691640"/>
          </a:xfrm>
          <a:prstGeom prst="roundRect">
            <a:avLst>
              <a:gd name="adj" fmla="val 5405"/>
            </a:avLst>
          </a:prstGeom>
          <a:solidFill>
            <a:srgbClr val="16243D"/>
          </a:solidFill>
          <a:ln/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34440" y="2788920"/>
            <a:ext cx="822960" cy="822960"/>
          </a:xfrm>
          <a:prstGeom prst="ellipse">
            <a:avLst/>
          </a:prstGeom>
          <a:solidFill>
            <a:srgbClr val="1B2C49"/>
          </a:solidFill>
          <a:ln w="9525">
            <a:solidFill>
              <a:srgbClr val="38BDF8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6639" y="3011119"/>
            <a:ext cx="378562" cy="37856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37033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Pilgrimage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2857500" y="2514600"/>
            <a:ext cx="2011680" cy="1691640"/>
          </a:xfrm>
          <a:prstGeom prst="roundRect">
            <a:avLst>
              <a:gd name="adj" fmla="val 5405"/>
            </a:avLst>
          </a:prstGeom>
          <a:solidFill>
            <a:srgbClr val="16243D"/>
          </a:solidFill>
          <a:ln/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51860" y="2788920"/>
            <a:ext cx="822960" cy="822960"/>
          </a:xfrm>
          <a:prstGeom prst="ellipse">
            <a:avLst/>
          </a:prstGeom>
          <a:solidFill>
            <a:srgbClr val="1B2C49"/>
          </a:solidFill>
          <a:ln w="9525">
            <a:solidFill>
              <a:srgbClr val="38BDF8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4059" y="3011119"/>
            <a:ext cx="378562" cy="37856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948940" y="37033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Airports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5074920" y="2514600"/>
            <a:ext cx="2011680" cy="1691640"/>
          </a:xfrm>
          <a:prstGeom prst="roundRect">
            <a:avLst>
              <a:gd name="adj" fmla="val 5405"/>
            </a:avLst>
          </a:prstGeom>
          <a:solidFill>
            <a:srgbClr val="16243D"/>
          </a:solidFill>
          <a:ln/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669280" y="2788920"/>
            <a:ext cx="822960" cy="822960"/>
          </a:xfrm>
          <a:prstGeom prst="ellipse">
            <a:avLst/>
          </a:prstGeom>
          <a:solidFill>
            <a:srgbClr val="1B2C49"/>
          </a:solidFill>
          <a:ln w="9525">
            <a:solidFill>
              <a:srgbClr val="38BDF8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1479" y="3011119"/>
            <a:ext cx="378562" cy="37856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166360" y="37033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Stadiums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7292340" y="2514600"/>
            <a:ext cx="2011680" cy="1691640"/>
          </a:xfrm>
          <a:prstGeom prst="roundRect">
            <a:avLst>
              <a:gd name="adj" fmla="val 5405"/>
            </a:avLst>
          </a:prstGeom>
          <a:solidFill>
            <a:srgbClr val="16243D"/>
          </a:solidFill>
          <a:ln/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886700" y="2788920"/>
            <a:ext cx="822960" cy="822960"/>
          </a:xfrm>
          <a:prstGeom prst="ellipse">
            <a:avLst/>
          </a:prstGeom>
          <a:solidFill>
            <a:srgbClr val="1B2C49"/>
          </a:solidFill>
          <a:ln w="9525">
            <a:solidFill>
              <a:srgbClr val="38BDF8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8899" y="3011119"/>
            <a:ext cx="378562" cy="37856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383780" y="37033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cities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9509760" y="2514600"/>
            <a:ext cx="2011680" cy="1691640"/>
          </a:xfrm>
          <a:prstGeom prst="roundRect">
            <a:avLst>
              <a:gd name="adj" fmla="val 5405"/>
            </a:avLst>
          </a:prstGeom>
          <a:solidFill>
            <a:srgbClr val="16243D"/>
          </a:solidFill>
          <a:ln/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10104120" y="2788920"/>
            <a:ext cx="822960" cy="822960"/>
          </a:xfrm>
          <a:prstGeom prst="ellipse">
            <a:avLst/>
          </a:prstGeom>
          <a:solidFill>
            <a:srgbClr val="1B2C49"/>
          </a:solidFill>
          <a:ln w="9525">
            <a:solidFill>
              <a:srgbClr val="38BDF8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26319" y="3011119"/>
            <a:ext cx="378562" cy="37856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601200" y="37033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Disaster camps</a:t>
            </a:r>
            <a:endParaRPr lang="en-US" sz="1350" dirty="0"/>
          </a:p>
        </p:txBody>
      </p:sp>
      <p:sp>
        <p:nvSpPr>
          <p:cNvPr id="25" name="Shape 18"/>
          <p:cNvSpPr/>
          <p:nvPr/>
        </p:nvSpPr>
        <p:spPr>
          <a:xfrm>
            <a:off x="640080" y="470916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1B2C49"/>
          </a:solidFill>
          <a:ln/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26" name="Text 19"/>
          <p:cNvSpPr/>
          <p:nvPr/>
        </p:nvSpPr>
        <p:spPr>
          <a:xfrm>
            <a:off x="640080" y="4709160"/>
            <a:ext cx="10881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Cameras shouldn't just record.  </a:t>
            </a:r>
            <a:pPr algn="ctr" indent="0" marL="0">
              <a:buNone/>
            </a:pPr>
            <a:r>
              <a:rPr lang="en-US" sz="23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Cities should understand themselves.</a:t>
            </a:r>
            <a:endParaRPr lang="en-US" sz="2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Astra — Spatial Intelligence for Large Public Spaces</dc:title>
  <dc:subject>PptxGenJS Presentation</dc:subject>
  <dc:creator>Astra</dc:creator>
  <cp:lastModifiedBy>Astra</cp:lastModifiedBy>
  <cp:revision>1</cp:revision>
  <dcterms:created xsi:type="dcterms:W3CDTF">2026-06-26T21:04:40Z</dcterms:created>
  <dcterms:modified xsi:type="dcterms:W3CDTF">2026-06-26T21:04:40Z</dcterms:modified>
</cp:coreProperties>
</file>